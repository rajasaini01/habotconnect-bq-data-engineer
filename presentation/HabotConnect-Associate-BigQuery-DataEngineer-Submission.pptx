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daar raja saini" userId="a842d2e4386509db" providerId="LiveId" clId="{14FF341A-4D62-4F12-92AE-6C224F4DABE8}"/>
    <pc:docChg chg="custSel modSld">
      <pc:chgData name="sardaar raja saini" userId="a842d2e4386509db" providerId="LiveId" clId="{14FF341A-4D62-4F12-92AE-6C224F4DABE8}" dt="2026-08-17T06:04:19.413" v="19" actId="20577"/>
      <pc:docMkLst>
        <pc:docMk/>
      </pc:docMkLst>
      <pc:sldChg chg="delSp modSp mod">
        <pc:chgData name="sardaar raja saini" userId="a842d2e4386509db" providerId="LiveId" clId="{14FF341A-4D62-4F12-92AE-6C224F4DABE8}" dt="2026-08-17T06:04:19.413" v="19" actId="20577"/>
        <pc:sldMkLst>
          <pc:docMk/>
          <pc:sldMk cId="0" sldId="256"/>
        </pc:sldMkLst>
        <pc:spChg chg="del">
          <ac:chgData name="sardaar raja saini" userId="a842d2e4386509db" providerId="LiveId" clId="{14FF341A-4D62-4F12-92AE-6C224F4DABE8}" dt="2026-08-17T06:04:07.660" v="14" actId="478"/>
          <ac:spMkLst>
            <pc:docMk/>
            <pc:sldMk cId="0" sldId="256"/>
            <ac:spMk id="4" creationId="{00000000-0000-0000-0000-000000000000}"/>
          </ac:spMkLst>
        </pc:spChg>
        <pc:spChg chg="mod">
          <ac:chgData name="sardaar raja saini" userId="a842d2e4386509db" providerId="LiveId" clId="{14FF341A-4D62-4F12-92AE-6C224F4DABE8}" dt="2026-08-17T06:04:19.413" v="19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sardaar raja saini" userId="a842d2e4386509db" providerId="LiveId" clId="{14FF341A-4D62-4F12-92AE-6C224F4DABE8}" dt="2026-08-17T05:34:38.262" v="13" actId="20577"/>
          <ac:spMkLst>
            <pc:docMk/>
            <pc:sldMk cId="0" sldId="256"/>
            <ac:spMk id="7" creationId="{00000000-0000-0000-0000-000000000000}"/>
          </ac:spMkLst>
        </pc:spChg>
      </pc:sldChg>
      <pc:sldChg chg="modSp mod">
        <pc:chgData name="sardaar raja saini" userId="a842d2e4386509db" providerId="LiveId" clId="{14FF341A-4D62-4F12-92AE-6C224F4DABE8}" dt="2026-08-16T04:00:01.619" v="0" actId="20577"/>
        <pc:sldMkLst>
          <pc:docMk/>
          <pc:sldMk cId="0" sldId="257"/>
        </pc:sldMkLst>
        <pc:spChg chg="mod">
          <ac:chgData name="sardaar raja saini" userId="a842d2e4386509db" providerId="LiveId" clId="{14FF341A-4D62-4F12-92AE-6C224F4DABE8}" dt="2026-08-16T04:00:01.619" v="0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sardaar raja saini" userId="a842d2e4386509db" providerId="LiveId" clId="{14FF341A-4D62-4F12-92AE-6C224F4DABE8}" dt="2026-08-16T04:00:27.160" v="1" actId="1076"/>
        <pc:sldMkLst>
          <pc:docMk/>
          <pc:sldMk cId="0" sldId="258"/>
        </pc:sldMkLst>
        <pc:picChg chg="mod">
          <ac:chgData name="sardaar raja saini" userId="a842d2e4386509db" providerId="LiveId" clId="{14FF341A-4D62-4F12-92AE-6C224F4DABE8}" dt="2026-08-16T04:00:27.160" v="1" actId="1076"/>
          <ac:picMkLst>
            <pc:docMk/>
            <pc:sldMk cId="0" sldId="258"/>
            <ac:picMk id="7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1233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urus125/habotconnect-bq-data-enginee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gurus125/habotconnect-bq-data-engineer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urus125/habotconnect-bq-data-engineer/blob/main/docs/fail-closed-demo.md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urus125/habotconnect-bq-data-engineer/blob/main/docs/schema-mapping.xlsx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urus125/habotconnect-bq-data-engineer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urus125/habotconnect-bq-data-engineer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754880" cy="47548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1645920" y="4389120"/>
            <a:ext cx="4023360" cy="402336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10515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Restoring System Integrity: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Staging, Poka-Yoke Gates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Schema Validation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9875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9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Associate BigQuery Data Engineer — </a:t>
            </a:r>
            <a:r>
              <a:rPr lang="en-US" sz="1600" dirty="0" err="1">
                <a:solidFill>
                  <a:srgbClr val="C9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HabotConnect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56235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Raja Saini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60533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rajasaini092004@gmail.com   |   5 August 2026</a:t>
            </a:r>
            <a:endParaRPr lang="en-US" sz="1300" dirty="0"/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200">
                <a:solidFill>
                  <a:srgbClr val="9FD3E8"/>
                </a:solidFill>
                <a:latin typeface="Arial"/>
                <a:hlinkClick r:id="rId3"/>
              </a:rPr>
              <a:t>Repository: github.com/gurus125/habotconnect-bq-data-engineer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BRIEF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staging incident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949440" cy="4480560"/>
          </a:xfrm>
          <a:prstGeom prst="roundRect">
            <a:avLst>
              <a:gd name="adj" fmla="val 1633"/>
            </a:avLst>
          </a:prstGeom>
          <a:solidFill>
            <a:srgbClr val="EAF4F8"/>
          </a:solidFill>
          <a:ln/>
          <a:effectLst>
            <a:outerShdw blurRad="76200" dist="25400" dir="5400000" algn="bl" rotWithShape="0">
              <a:srgbClr val="44546A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64008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broke:  </a:t>
            </a:r>
            <a:r>
              <a:rPr lang="en-US" sz="14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junior developer's commit left unencrypted API credentials in application code and introduced a schema mismatch that broke downstream analytics.
</a:t>
            </a:r>
            <a:r>
              <a:rPr lang="en-US" sz="145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was asked to restore:
</a:t>
            </a:r>
            <a:r>
              <a:rPr lang="en-US" sz="14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Secure staging infrastructure (Terraform)
2.  A build gate that cannot be bypassed (CI/CD)
3.  A schema boundary that removes ambiguity (DCYN + DRF)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818120" y="1600200"/>
            <a:ext cx="3794760" cy="1371600"/>
          </a:xfrm>
          <a:prstGeom prst="roundRect">
            <a:avLst>
              <a:gd name="adj" fmla="val 5333"/>
            </a:avLst>
          </a:prstGeom>
          <a:solidFill>
            <a:srgbClr val="21295C"/>
          </a:solidFill>
          <a:ln/>
          <a:effectLst>
            <a:outerShdw blurRad="76200" dist="25400" dir="5400000" algn="bl" rotWithShape="0">
              <a:srgbClr val="44546A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046720" y="178308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Rule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0" y="2084832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deviation from security protocol — automation enforces this, not memory.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818120" y="3154680"/>
            <a:ext cx="3794760" cy="13716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44546A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046720" y="333756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Poka-Yoke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0" y="3639312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Mistake-proofing: design the system so the error is structurally impossible, not just discouraged.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818120" y="4709160"/>
            <a:ext cx="3794760" cy="137160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44546A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046720" y="489204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0" y="5193792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resource person available — every open question is answered and justified in ASSUMPTIONS.md.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Raja Saini  |  rajasaini092004@gmail.com  |  Associate BigQuery Data Engineer — HabotConnect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pipeline architecture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Raja Saini  |  rajasaini092004@gmail.com  |  Associate BigQuery Data Engineer — HabotConnect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pic>
        <p:nvPicPr>
          <p:cNvPr id="7" name="Picture 6" descr="architecture-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123" y="1344168"/>
            <a:ext cx="10058400" cy="4892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00">
                <a:solidFill>
                  <a:srgbClr val="1C7293"/>
                </a:solidFill>
                <a:latin typeface="Arial"/>
                <a:hlinkClick r:id="rId4"/>
              </a:rPr>
              <a:t>View full repository -&gt; https://github.com/gurus125/habotconnect-bq-data-engineer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 — TERRAFORM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D0 Raw Landing: a GCS bucket that cannot leak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AF4F8"/>
          </a:solidFill>
          <a:ln/>
          <a:effectLst>
            <a:outerShdw blurRad="76200" dist="25400" dir="5400000" algn="bl" rotWithShape="0">
              <a:srgbClr val="44546A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180136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Uniform bucket-level access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600200" y="2167128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IAM policy surface — no legacy per-object ACLs to drift out of sync.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862072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AF4F8"/>
          </a:solidFill>
          <a:ln/>
          <a:effectLst>
            <a:outerShdw blurRad="76200" dist="25400" dir="5400000" algn="bl" rotWithShape="0">
              <a:srgbClr val="44546A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77240" y="3090672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77240" y="309067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00200" y="297180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access prevention: enforced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600200" y="3337560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Structurally blocks any allUsers / allAuthenticatedUsers grant, regardless of future IAM changes.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032504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AF4F8"/>
          </a:solidFill>
          <a:ln/>
          <a:effectLst>
            <a:outerShdw blurRad="76200" dist="25400" dir="5400000" algn="bl" rotWithShape="0">
              <a:srgbClr val="44546A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777240" y="4261104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77240" y="426110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0200" y="4142232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Versioning enabled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600200" y="4507992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Protects raw source data from accidental overwrite or delete.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202936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AF4F8"/>
          </a:solidFill>
          <a:ln/>
          <a:effectLst>
            <a:outerShdw blurRad="76200" dist="25400" dir="5400000" algn="bl" rotWithShape="0">
              <a:srgbClr val="44546A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777240" y="5431536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77240" y="543153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00200" y="5312664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Least-privilege writer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600200" y="5678424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 service account gets objectCreator only — write, never delete or read arbitrary objects.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Raja Saini  |  rajasaini092004@gmail.com  |  Associate BigQuery Data Engineer — HabotConnect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 — TERRAFORM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D1 Staged/Enforced: BigQuery, least privilege by group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EAF4F8"/>
          </a:solidFill>
          <a:ln/>
          <a:effectLst>
            <a:outerShdw blurRad="76200" dist="25400" dir="5400000" algn="bl" rotWithShape="0">
              <a:srgbClr val="44546A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IAM roles, both group-scoped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bigquery.dataOwner
</a:t>
            </a:r>
            <a:r>
              <a:rPr lang="en-US" sz="13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group:gcp-bq-admins — full schema and policy control.
</a:t>
            </a:r>
            <a:r>
              <a:rPr lang="en-US" sz="13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bigquery.dataViewer
</a:t>
            </a:r>
            <a:r>
              <a:rPr lang="en-US" sz="13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group:gcp-bq-analysts — read-only, further restricted by row access policy below.
</a:t>
            </a:r>
            <a:r>
              <a:rPr lang="en-US" sz="1300" i="1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individual user is ever bound directly — access survives personnel changes without a Terraform change.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21295C"/>
          </a:solidFill>
          <a:ln/>
          <a:effectLst>
            <a:outerShdw blurRad="76200" dist="25400" dir="5400000" algn="bl" rotWithShape="0">
              <a:srgbClr val="44546A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492240" y="1874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dataset, not a table, boundary?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92240" y="233172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9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 holds every enforced table for this pipeline. Binding IAM at the dataset level means a new table added later inherits the same security posture automatically — nobody has to remember to re-apply access rules per table.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3977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default table expiration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92240" y="438912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9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persistent warehouse layer, not a scratch dataset — tables should not silently disappear after N days.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Raja Saini  |  rajasaini092004@gmail.com  |  Associate BigQuery Data Engineer — HabotConnect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 — TERRAFORM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Row-Level and Column-Level Security, together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EAF4F8"/>
          </a:solidFill>
          <a:ln/>
          <a:effectLst>
            <a:outerShdw blurRad="76200" dist="25400" dir="5400000" algn="bl" rotWithShape="0">
              <a:srgbClr val="44546A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68680" y="19202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6868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1965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Access Policy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Analysts see only rows where lsa_region matches a region they're authorized for, looked up in an authorized_viewers table. Applied via CREATE ROW ACCESS POLICY — enforced even for ad hoc queries run directly in BigQuery, not just through an app layer.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EAF4F8"/>
          </a:solidFill>
          <a:ln/>
          <a:effectLst>
            <a:outerShdw blurRad="76200" dist="25400" dir="5400000" algn="bl" rotWithShape="0">
              <a:srgbClr val="44546A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537960" y="1920240"/>
            <a:ext cx="548640" cy="548640"/>
          </a:xfrm>
          <a:prstGeom prst="ellipse">
            <a:avLst/>
          </a:prstGeom>
          <a:solidFill>
            <a:srgbClr val="D98E0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53796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69480" y="1965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Policy Tag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260604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student_full_name, parent_email, and parent_phone are tagged under a Data Catalog taxonomy. Only the PII-reader group sees them unmasked; every other viewer — including a region-authorized analyst — sees them masked by default.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Raja Saini  |  rajasaini092004@gmail.com  |  Associate BigQuery Data Engineer — HabotConnect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 — CI/CD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Poka-Yoke build gate: three checks, one outcome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611880" cy="3017520"/>
          </a:xfrm>
          <a:prstGeom prst="roundRect">
            <a:avLst>
              <a:gd name="adj" fmla="val 2424"/>
            </a:avLst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44546A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fmt + validate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4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Malformed or inconsistent IaC never reaches apply.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78808" y="30632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480560" y="1920240"/>
            <a:ext cx="3611880" cy="3017520"/>
          </a:xfrm>
          <a:prstGeom prst="roundRect">
            <a:avLst>
              <a:gd name="adj" fmla="val 2424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44546A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754880" y="21945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75488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28803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lint + format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54880" y="352044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4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flake8 and black — style and correctness enforced, not suggested.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110728" y="30632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8412480" y="1920240"/>
            <a:ext cx="3611880" cy="3017520"/>
          </a:xfrm>
          <a:prstGeom prst="roundRect">
            <a:avLst>
              <a:gd name="adj" fmla="val 2424"/>
            </a:avLst>
          </a:prstGeom>
          <a:solidFill>
            <a:srgbClr val="21295C"/>
          </a:solidFill>
          <a:ln/>
          <a:effectLst>
            <a:outerShdw blurRad="76200" dist="25400" dir="5400000" algn="bl" rotWithShape="0">
              <a:srgbClr val="44546A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8686800" y="21945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68680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0" y="28803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scan (Gitleaks)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686800" y="352044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4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Blocks any commit matching a credential shape, anywhere in the diff.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1663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AF4F8"/>
          </a:solidFill>
          <a:ln/>
          <a:effectLst>
            <a:outerShdw blurRad="76200" dist="25400" dir="5400000" algn="bl" rotWithShape="0">
              <a:srgbClr val="44546A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822960" y="5303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must pass before a single "Build Gate Passed" status goes green — that status, not the individual jobs, is what branch protection requires before merge.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Raja Saini  |  rajasaini092004@gmail.com  |  Associate BigQuery Data Engineer — HabotConnect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 — CI/CD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fail-closed, not fail-open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389120"/>
          </a:xfrm>
          <a:prstGeom prst="roundRect">
            <a:avLst>
              <a:gd name="adj" fmla="val 1667"/>
            </a:avLst>
          </a:prstGeom>
          <a:solidFill>
            <a:srgbClr val="EAF4F8"/>
          </a:solidFill>
          <a:ln/>
          <a:effectLst>
            <a:outerShdw blurRad="76200" dist="25400" dir="5400000" algn="bl" rotWithShape="0">
              <a:srgbClr val="44546A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Fail-open (rejected design)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run, a failure posts a warning comment, but the merge button stays active. The gate becomes advisory — exactly the pattern that let unencrypted credentials ship in the first place.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691640"/>
            <a:ext cx="5394960" cy="4389120"/>
          </a:xfrm>
          <a:prstGeom prst="roundRect">
            <a:avLst>
              <a:gd name="adj" fmla="val 1667"/>
            </a:avLst>
          </a:prstGeom>
          <a:solidFill>
            <a:srgbClr val="21295C"/>
          </a:solidFill>
          <a:ln/>
          <a:effectLst>
            <a:outerShdw blurRad="76200" dist="25400" dir="5400000" algn="bl" rotWithShape="0">
              <a:srgbClr val="44546A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49224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FE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Fail-closed (what's implemented)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92240" y="237744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4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continue-on-error anywhere in the workflow. A final aggregator job depends on all three checks via needs: — it only runs, and only succeeds, if every upstream job passed. Branch protection requires that single status. There is no path around the dependency graph.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Raja Saini  |  rajasaini092004@gmail.com  |  Associate BigQuery Data Engineer — HabotConnect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 — DEMONSTRATION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Triggering the gate on an insecure commit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B2733"/>
          </a:solidFill>
          <a:ln/>
          <a:effectLst>
            <a:outerShdw blurRad="76200" dist="25400" dir="5400000" algn="bl" rotWithShape="0">
              <a:srgbClr val="44546A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THIRD_PARTY_API_KEY = "sk_live_51Hz9K2eXAMPLEnotarealkeyBUTSHAPEDLIKEONE"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u="sng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/>
              </a:rPr>
              <a:t>Simulated diff — inert example key, shaped to match Gitleaks' default ruleset. Full walk-through: docs/fail-closed-demo.md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7498080" cy="658368"/>
          </a:xfrm>
          <a:prstGeom prst="roundRect">
            <a:avLst>
              <a:gd name="adj" fmla="val 11111"/>
            </a:avLst>
          </a:prstGeom>
          <a:solidFill>
            <a:srgbClr val="EAF4F8"/>
          </a:solidFill>
          <a:ln/>
          <a:effectLst>
            <a:outerShdw blurRad="76200" dist="25400" dir="5400000" algn="bl" rotWithShape="0">
              <a:srgbClr val="44546A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terraform-checks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75320" y="3410712"/>
            <a:ext cx="3337560" cy="512064"/>
          </a:xfrm>
          <a:prstGeom prst="roundRect">
            <a:avLst>
              <a:gd name="adj" fmla="val 10714"/>
            </a:avLst>
          </a:prstGeom>
          <a:solidFill>
            <a:srgbClr val="1E7B4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275320" y="3410712"/>
            <a:ext cx="3337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114800"/>
            <a:ext cx="7498080" cy="658368"/>
          </a:xfrm>
          <a:prstGeom prst="roundRect">
            <a:avLst>
              <a:gd name="adj" fmla="val 11111"/>
            </a:avLst>
          </a:prstGeom>
          <a:solidFill>
            <a:srgbClr val="EAF4F8"/>
          </a:solidFill>
          <a:ln/>
          <a:effectLst>
            <a:outerShdw blurRad="76200" dist="25400" dir="5400000" algn="bl" rotWithShape="0">
              <a:srgbClr val="44546A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22960" y="42062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python-lint-and-format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75320" y="4187952"/>
            <a:ext cx="3337560" cy="512064"/>
          </a:xfrm>
          <a:prstGeom prst="roundRect">
            <a:avLst>
              <a:gd name="adj" fmla="val 10714"/>
            </a:avLst>
          </a:prstGeom>
          <a:solidFill>
            <a:srgbClr val="1E7B4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275320" y="4187952"/>
            <a:ext cx="3337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7498080" cy="658368"/>
          </a:xfrm>
          <a:prstGeom prst="roundRect">
            <a:avLst>
              <a:gd name="adj" fmla="val 11111"/>
            </a:avLst>
          </a:prstGeom>
          <a:solidFill>
            <a:srgbClr val="EAF4F8"/>
          </a:solidFill>
          <a:ln/>
          <a:effectLst>
            <a:outerShdw blurRad="76200" dist="25400" dir="5400000" algn="bl" rotWithShape="0">
              <a:srgbClr val="44546A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822960" y="4983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secret-scan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75320" y="4965192"/>
            <a:ext cx="3337560" cy="512064"/>
          </a:xfrm>
          <a:prstGeom prst="roundRect">
            <a:avLst>
              <a:gd name="adj" fmla="val 10714"/>
            </a:avLst>
          </a:prstGeom>
          <a:solidFill>
            <a:srgbClr val="B32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275320" y="4965192"/>
            <a:ext cx="3337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— credential pattern matched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669280"/>
            <a:ext cx="7498080" cy="658368"/>
          </a:xfrm>
          <a:prstGeom prst="roundRect">
            <a:avLst>
              <a:gd name="adj" fmla="val 11111"/>
            </a:avLst>
          </a:prstGeom>
          <a:solidFill>
            <a:srgbClr val="EAF4F8"/>
          </a:solidFill>
          <a:ln/>
          <a:effectLst>
            <a:outerShdw blurRad="76200" dist="25400" dir="5400000" algn="bl" rotWithShape="0">
              <a:srgbClr val="44546A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822960" y="5760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build-gate-passed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275320" y="5742432"/>
            <a:ext cx="3337560" cy="512064"/>
          </a:xfrm>
          <a:prstGeom prst="roundRect">
            <a:avLst>
              <a:gd name="adj" fmla="val 10714"/>
            </a:avLst>
          </a:prstGeom>
          <a:solidFill>
            <a:srgbClr val="B326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8275320" y="5742432"/>
            <a:ext cx="3337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RUNS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Raja Saini  |  rajasaini092004@gmail.com  |  Associate BigQuery Data Engineer — HabotConnect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 — SCHEMA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DCYN: Deconstructed Yes/No logic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EAF4F8"/>
          </a:solidFill>
          <a:ln/>
          <a:effectLst>
            <a:outerShdw blurRad="76200" dist="25400" dir="5400000" algn="bl" rotWithShape="0">
              <a:srgbClr val="44546A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Incoming JSON represents binary decisions inconsistently: true/false, "yes"/"no", 1/0, or missing entirely. Left unresolved, that ambiguity becomes a human judgment call somewhere downstream — exactly what the brief asks to eliminate.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44546A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492240" y="1874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92240" y="228600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Resolves to exactly "YES" or "NO" — nothing else.
</a:t>
            </a:r>
            <a:r>
              <a:rPr lang="en-US" sz="1300" dirty="0">
                <a:solidFill>
                  <a:srgbClr val="E4EE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null, blank, or an unrecognized value raises DCYNValidationError instead of defaulting silently to either answer. An unanswered consent question should surface as an error, not quietly become "NO".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Raja Saini  |  rajasaini092004@gmail.com  |  Associate BigQuery Data Engineer — HabotConnect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 — SCHEMA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DRF serializer: the validation boundary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AF4F8"/>
          </a:solidFill>
          <a:ln/>
          <a:effectLst>
            <a:outerShdw blurRad="76200" dist="25400" dir="5400000" algn="bl" rotWithShape="0">
              <a:srgbClr val="44546A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student_full_name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46320" y="169164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CharField, 2–120 chars, trimmed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587752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AF4F8"/>
          </a:solidFill>
          <a:ln/>
          <a:effectLst>
            <a:outerShdw blurRad="76200" dist="25400" dir="5400000" algn="bl" rotWithShape="0">
              <a:srgbClr val="44546A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22960" y="2587752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parent_email / parent_phone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2587752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EmailField / regex-validated E.164 — flagged as PII, policy-tagged in BigQuery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48386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AF4F8"/>
          </a:solidFill>
          <a:ln/>
          <a:effectLst>
            <a:outerShdw blurRad="76200" dist="25400" dir="5400000" algn="bl" rotWithShape="0">
              <a:srgbClr val="44546A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22960" y="3483864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lsa_region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3483864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ChoiceField — closed set, makes row-level security enforceable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37997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AF4F8"/>
          </a:solidFill>
          <a:ln/>
          <a:effectLst>
            <a:outerShdw blurRad="76200" dist="25400" dir="5400000" algn="bl" rotWithShape="0">
              <a:srgbClr val="44546A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22960" y="4379976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consent_data_processing, etc.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4379976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ChoiceField over DCYNChoice — populated by dcyn_library before field validation runs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27608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AF4F8"/>
          </a:solidFill>
          <a:ln/>
          <a:effectLst>
            <a:outerShdw blurRad="76200" dist="25400" dir="5400000" algn="bl" rotWithShape="0">
              <a:srgbClr val="44546A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22960" y="5276088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date_of_birth vs onboarding_date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5276088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Cross-field check in validate() — birth date must precede onboarding date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Raja Saini  |  rajasaini092004@gmail.com  |  Associate BigQuery Data Engineer — HabotConnect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 — DOCUMENTATION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 mapping sheet (excerpt)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926080" cy="5029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Field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566160" y="1737360"/>
            <a:ext cx="2377440" cy="5029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657600" y="1737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DCYN?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35040" y="1737360"/>
            <a:ext cx="2468880" cy="5029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126480" y="17373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BigQuery Column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595360" y="1737360"/>
            <a:ext cx="3017520" cy="5029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686800" y="17373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Rule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240280"/>
            <a:ext cx="29260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22860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consent_data_processing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66160" y="2240280"/>
            <a:ext cx="23774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657600" y="228600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240280"/>
            <a:ext cx="24688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126480" y="22860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consent_data_processing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595360" y="2240280"/>
            <a:ext cx="30175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686800" y="228600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resolve to YES/NO; null is rejected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017520"/>
            <a:ext cx="2926080" cy="777240"/>
          </a:xfrm>
          <a:prstGeom prst="rect">
            <a:avLst/>
          </a:prstGeom>
          <a:solidFill>
            <a:srgbClr val="EAF4F8"/>
          </a:solidFill>
          <a:ln w="6350">
            <a:solidFill>
              <a:srgbClr val="D5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40080" y="306324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lsa_region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566160" y="3017520"/>
            <a:ext cx="2377440" cy="777240"/>
          </a:xfrm>
          <a:prstGeom prst="rect">
            <a:avLst/>
          </a:prstGeom>
          <a:solidFill>
            <a:srgbClr val="EAF4F8"/>
          </a:solidFill>
          <a:ln w="6350">
            <a:solidFill>
              <a:srgbClr val="D5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3657600" y="306324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3017520"/>
            <a:ext cx="2468880" cy="777240"/>
          </a:xfrm>
          <a:prstGeom prst="rect">
            <a:avLst/>
          </a:prstGeom>
          <a:solidFill>
            <a:srgbClr val="EAF4F8"/>
          </a:solidFill>
          <a:ln w="6350">
            <a:solidFill>
              <a:srgbClr val="D5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126480" y="306324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lsa_region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595360" y="3017520"/>
            <a:ext cx="3017520" cy="777240"/>
          </a:xfrm>
          <a:prstGeom prst="rect">
            <a:avLst/>
          </a:prstGeom>
          <a:solidFill>
            <a:srgbClr val="EAF4F8"/>
          </a:solidFill>
          <a:ln w="6350">
            <a:solidFill>
              <a:srgbClr val="D5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686800" y="306324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of: north, south, east, west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794760"/>
            <a:ext cx="29260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40080" y="384048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parent_email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566160" y="3794760"/>
            <a:ext cx="23774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3657600" y="38404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35040" y="3794760"/>
            <a:ext cx="24688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126480" y="384048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parent_email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595360" y="3794760"/>
            <a:ext cx="30175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8686800" y="384048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email, max 254 chars, PII-tagged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4572000"/>
            <a:ext cx="2926080" cy="777240"/>
          </a:xfrm>
          <a:prstGeom prst="rect">
            <a:avLst/>
          </a:prstGeom>
          <a:solidFill>
            <a:srgbClr val="EAF4F8"/>
          </a:solidFill>
          <a:ln w="6350">
            <a:solidFill>
              <a:srgbClr val="D5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640080" y="46177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date_of_birth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566160" y="4572000"/>
            <a:ext cx="2377440" cy="777240"/>
          </a:xfrm>
          <a:prstGeom prst="rect">
            <a:avLst/>
          </a:prstGeom>
          <a:solidFill>
            <a:srgbClr val="EAF4F8"/>
          </a:solidFill>
          <a:ln w="6350">
            <a:solidFill>
              <a:srgbClr val="D5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3657600" y="461772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035040" y="4572000"/>
            <a:ext cx="2468880" cy="777240"/>
          </a:xfrm>
          <a:prstGeom prst="rect">
            <a:avLst/>
          </a:prstGeom>
          <a:solidFill>
            <a:srgbClr val="EAF4F8"/>
          </a:solidFill>
          <a:ln w="6350">
            <a:solidFill>
              <a:srgbClr val="D5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6126480" y="46177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date_of_birth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595360" y="4572000"/>
            <a:ext cx="3017520" cy="777240"/>
          </a:xfrm>
          <a:prstGeom prst="rect">
            <a:avLst/>
          </a:prstGeom>
          <a:solidFill>
            <a:srgbClr val="EAF4F8"/>
          </a:solidFill>
          <a:ln w="6350">
            <a:solidFill>
              <a:srgbClr val="D5DE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8686800" y="461772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precede onboarding_date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u="sng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/>
              </a:rPr>
              <a:t>Full sheet (11 fields, Wrap Text enabled, full sentence rules): docs/schema-mapping.xlsx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Raja Saini  |  rajasaini092004@gmail.com  |  Associate BigQuery Data Engineer — HabotConnect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RIGOR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Assumptions made explicit, not implied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EAF4F8"/>
          </a:solidFill>
          <a:ln/>
          <a:effectLst>
            <a:outerShdw blurRad="76200" dist="25400" dir="5400000" algn="bl" rotWithShape="0">
              <a:srgbClr val="44546A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77240" y="180136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77240" y="18013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1673352"/>
            <a:ext cx="9829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titles this role "Associate BigQuery Data Engineer" and states it is NOT a Django/React engineering position — so Task 3's DRF serializer is scoped as a schema-validation boundary, not general API engineering.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60904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EAF4F8"/>
          </a:solidFill>
          <a:ln/>
          <a:effectLst>
            <a:outerShdw blurRad="76200" dist="25400" dir="5400000" algn="bl" rotWithShape="0">
              <a:srgbClr val="44546A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77240" y="286207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77240" y="28620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00200" y="2734056"/>
            <a:ext cx="9829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GCP project ID is committed — it is a required Terraform input variable, supplied at plan/apply time.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721608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EAF4F8"/>
          </a:solidFill>
          <a:ln/>
          <a:effectLst>
            <a:outerShdw blurRad="76200" dist="25400" dir="5400000" algn="bl" rotWithShape="0">
              <a:srgbClr val="44546A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77240" y="3922776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77240" y="392277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00200" y="3794760"/>
            <a:ext cx="9829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defaults to asia-south1 (Mumbai), reflecting the INR-denominated, India-proximate candidate pool — overridable per environment.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782312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EAF4F8"/>
          </a:solidFill>
          <a:ln/>
          <a:effectLst>
            <a:outerShdw blurRad="76200" dist="25400" dir="5400000" algn="bl" rotWithShape="0">
              <a:srgbClr val="44546A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77240" y="49834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77240" y="4983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00200" y="4855464"/>
            <a:ext cx="9829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Row-level rule (region-based analyst access) and DCYN field selection are grounded in the platform's actual business description, not arbitrary.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58704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list with reasoning: ASSUMPTIONS.md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Raja Saini  |  rajasaini092004@gmail.com  |  Associate BigQuery Data Engineer — HabotConnect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 contents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120640" cy="4434840"/>
          </a:xfrm>
          <a:prstGeom prst="roundRect">
            <a:avLst>
              <a:gd name="adj" fmla="val 1649"/>
            </a:avLst>
          </a:prstGeom>
          <a:solidFill>
            <a:srgbClr val="21295C"/>
          </a:solidFill>
          <a:ln/>
          <a:effectLst>
            <a:outerShdw blurRad="76200" dist="25400" dir="5400000" algn="bl" rotWithShape="0">
              <a:srgbClr val="44546A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u="sng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/>
              </a:rPr>
              <a:t>habotconnect-bq-data-engineer/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ASSUMPTIONS.md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terraform/  (main.tf, variables.tf,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outputs.tf, versions.tf)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.github/workflows/ci-poka-yoke.yml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data_pipeline/  (dcyn_library.py,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serializers.py, models.py,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sample_payload.json)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  (diagram, schema-mapping.xlsx,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fail-closed-demo.md)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presentation/  (this deck)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0" y="1645920"/>
            <a:ext cx="5669280" cy="4434840"/>
          </a:xfrm>
          <a:prstGeom prst="roundRect">
            <a:avLst>
              <a:gd name="adj" fmla="val 1649"/>
            </a:avLst>
          </a:prstGeom>
          <a:solidFill>
            <a:srgbClr val="EAF4F8"/>
          </a:solidFill>
          <a:ln/>
          <a:effectLst>
            <a:outerShdw blurRad="76200" dist="25400" dir="5400000" algn="bl" rotWithShape="0">
              <a:srgbClr val="44546A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217920" y="18745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performed before submission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217920" y="23774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7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0" y="23774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files parsed and structurally validated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0" y="2907792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7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290779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YAML parsed and validated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0" y="3438144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7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0" y="343814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 + flake8 run against data_pipeline/ — zero findings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3968496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7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0" y="396849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Serializer tested against 3 real payloads: valid, DCYN-null rejection, cross-field date failure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4498848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7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449884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populated spreadsheet cell has Wrap Text enabled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Raja Saini  |  rajasaini092004@gmail.com  |  Associate BigQuery Data Engineer — HabotConnect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754880" cy="47548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1645920" y="4389120"/>
            <a:ext cx="4023360" cy="402336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10515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build within HabotConnect's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rule-based, quiet-management culture.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10424160" cy="1371600"/>
          </a:xfrm>
          <a:prstGeom prst="roundRect">
            <a:avLst>
              <a:gd name="adj" fmla="val 5333"/>
            </a:avLst>
          </a:prstGeom>
          <a:solidFill>
            <a:srgbClr val="065A82">
              <a:alpha val="8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 follows a rule-based, fail-closed philosophy end to end — because that's the standard the role itself is built on.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Raja Saini   |   rajasaini092004@gmail.com</a:t>
            </a:r>
            <a:endParaRPr lang="en-US" sz="1300" dirty="0"/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200">
                <a:solidFill>
                  <a:srgbClr val="9FD3E8"/>
                </a:solidFill>
                <a:latin typeface="Arial"/>
                <a:hlinkClick r:id="rId3"/>
              </a:rPr>
              <a:t>github.com/gurus125/habotconnect-bq-data-engineer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5745</TotalTime>
  <Words>1664</Words>
  <Application>Microsoft Office PowerPoint</Application>
  <PresentationFormat>Widescreen</PresentationFormat>
  <Paragraphs>205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sardaar raja saini</cp:lastModifiedBy>
  <cp:revision>2</cp:revision>
  <dcterms:created xsi:type="dcterms:W3CDTF">2026-08-05T12:14:08Z</dcterms:created>
  <dcterms:modified xsi:type="dcterms:W3CDTF">2026-08-17T08:53:22Z</dcterms:modified>
</cp:coreProperties>
</file>